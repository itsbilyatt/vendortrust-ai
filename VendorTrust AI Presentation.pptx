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Plus Jakarta Sans SemiBold"/>
      <p:regular r:id="rId23"/>
      <p:bold r:id="rId24"/>
      <p:italic r:id="rId25"/>
      <p:boldItalic r:id="rId26"/>
    </p:embeddedFont>
    <p:embeddedFont>
      <p:font typeface="Space Grotesk Medium"/>
      <p:regular r:id="rId27"/>
      <p:bold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E6F447-2CAE-44B0-8FEE-3866EFA3295B}">
  <a:tblStyle styleId="{77E6F447-2CAE-44B0-8FEE-3866EFA329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PlusJakartaSansSemiBold-bold.fntdata"/><Relationship Id="rId23" Type="http://schemas.openxmlformats.org/officeDocument/2006/relationships/font" Target="fonts/PlusJakarta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Italic.fntdata"/><Relationship Id="rId25" Type="http://schemas.openxmlformats.org/officeDocument/2006/relationships/font" Target="fonts/PlusJakartaSansSemiBold-italic.fntdata"/><Relationship Id="rId28" Type="http://schemas.openxmlformats.org/officeDocument/2006/relationships/font" Target="fonts/SpaceGroteskMedium-bold.fntdata"/><Relationship Id="rId27" Type="http://schemas.openxmlformats.org/officeDocument/2006/relationships/font" Target="fonts/SpaceGrotesk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39.png"/><Relationship Id="rId13" Type="http://schemas.openxmlformats.org/officeDocument/2006/relationships/image" Target="../media/image15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36.png"/><Relationship Id="rId13" Type="http://schemas.openxmlformats.org/officeDocument/2006/relationships/image" Target="../media/image20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4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2.png"/><Relationship Id="rId13" Type="http://schemas.openxmlformats.org/officeDocument/2006/relationships/image" Target="../media/image27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15" Type="http://schemas.openxmlformats.org/officeDocument/2006/relationships/image" Target="../media/image43.png"/><Relationship Id="rId14" Type="http://schemas.openxmlformats.org/officeDocument/2006/relationships/image" Target="../media/image40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5.png"/><Relationship Id="rId13" Type="http://schemas.openxmlformats.org/officeDocument/2006/relationships/image" Target="../media/image93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9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9" Type="http://schemas.openxmlformats.org/officeDocument/2006/relationships/image" Target="../media/image49.png"/><Relationship Id="rId5" Type="http://schemas.openxmlformats.org/officeDocument/2006/relationships/image" Target="../media/image69.png"/><Relationship Id="rId6" Type="http://schemas.openxmlformats.org/officeDocument/2006/relationships/image" Target="../media/image59.png"/><Relationship Id="rId7" Type="http://schemas.openxmlformats.org/officeDocument/2006/relationships/image" Target="../media/image45.png"/><Relationship Id="rId8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51.png"/><Relationship Id="rId9" Type="http://schemas.openxmlformats.org/officeDocument/2006/relationships/image" Target="../media/image66.png"/><Relationship Id="rId5" Type="http://schemas.openxmlformats.org/officeDocument/2006/relationships/image" Target="../media/image54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Relationship Id="rId8" Type="http://schemas.openxmlformats.org/officeDocument/2006/relationships/image" Target="../media/image71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68.png"/><Relationship Id="rId11" Type="http://schemas.openxmlformats.org/officeDocument/2006/relationships/image" Target="../media/image60.png"/><Relationship Id="rId10" Type="http://schemas.openxmlformats.org/officeDocument/2006/relationships/image" Target="../media/image62.png"/><Relationship Id="rId13" Type="http://schemas.openxmlformats.org/officeDocument/2006/relationships/image" Target="../media/image77.png"/><Relationship Id="rId1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50.png"/><Relationship Id="rId9" Type="http://schemas.openxmlformats.org/officeDocument/2006/relationships/image" Target="../media/image98.png"/><Relationship Id="rId15" Type="http://schemas.openxmlformats.org/officeDocument/2006/relationships/image" Target="../media/image65.png"/><Relationship Id="rId14" Type="http://schemas.openxmlformats.org/officeDocument/2006/relationships/image" Target="../media/image63.png"/><Relationship Id="rId17" Type="http://schemas.openxmlformats.org/officeDocument/2006/relationships/image" Target="../media/image64.png"/><Relationship Id="rId16" Type="http://schemas.openxmlformats.org/officeDocument/2006/relationships/image" Target="../media/image67.png"/><Relationship Id="rId5" Type="http://schemas.openxmlformats.org/officeDocument/2006/relationships/image" Target="../media/image53.png"/><Relationship Id="rId19" Type="http://schemas.openxmlformats.org/officeDocument/2006/relationships/image" Target="../media/image61.png"/><Relationship Id="rId6" Type="http://schemas.openxmlformats.org/officeDocument/2006/relationships/image" Target="../media/image56.png"/><Relationship Id="rId18" Type="http://schemas.openxmlformats.org/officeDocument/2006/relationships/image" Target="../media/image100.png"/><Relationship Id="rId7" Type="http://schemas.openxmlformats.org/officeDocument/2006/relationships/image" Target="../media/image58.png"/><Relationship Id="rId8" Type="http://schemas.openxmlformats.org/officeDocument/2006/relationships/image" Target="../media/image57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107.png"/><Relationship Id="rId5" Type="http://schemas.openxmlformats.org/officeDocument/2006/relationships/image" Target="../media/image72.png"/><Relationship Id="rId6" Type="http://schemas.openxmlformats.org/officeDocument/2006/relationships/image" Target="../media/image74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3.png"/><Relationship Id="rId9" Type="http://schemas.openxmlformats.org/officeDocument/2006/relationships/image" Target="../media/image81.png"/><Relationship Id="rId5" Type="http://schemas.openxmlformats.org/officeDocument/2006/relationships/image" Target="../media/image80.png"/><Relationship Id="rId6" Type="http://schemas.openxmlformats.org/officeDocument/2006/relationships/image" Target="../media/image94.png"/><Relationship Id="rId7" Type="http://schemas.openxmlformats.org/officeDocument/2006/relationships/image" Target="../media/image83.png"/><Relationship Id="rId8" Type="http://schemas.openxmlformats.org/officeDocument/2006/relationships/image" Target="../media/image10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44.png"/><Relationship Id="rId5" Type="http://schemas.openxmlformats.org/officeDocument/2006/relationships/image" Target="../media/image86.png"/><Relationship Id="rId6" Type="http://schemas.openxmlformats.org/officeDocument/2006/relationships/image" Target="../media/image105.png"/><Relationship Id="rId7" Type="http://schemas.openxmlformats.org/officeDocument/2006/relationships/image" Target="../media/image91.png"/><Relationship Id="rId8" Type="http://schemas.openxmlformats.org/officeDocument/2006/relationships/image" Target="../media/image10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1.png"/><Relationship Id="rId10" Type="http://schemas.openxmlformats.org/officeDocument/2006/relationships/image" Target="../media/image99.png"/><Relationship Id="rId13" Type="http://schemas.openxmlformats.org/officeDocument/2006/relationships/image" Target="../media/image110.png"/><Relationship Id="rId1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0.png"/><Relationship Id="rId9" Type="http://schemas.openxmlformats.org/officeDocument/2006/relationships/image" Target="../media/image97.png"/><Relationship Id="rId5" Type="http://schemas.openxmlformats.org/officeDocument/2006/relationships/image" Target="../media/image89.png"/><Relationship Id="rId6" Type="http://schemas.openxmlformats.org/officeDocument/2006/relationships/image" Target="../media/image92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7281" y="1754534"/>
            <a:ext cx="2357437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695700" y="2316509"/>
            <a:ext cx="4800600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VendorTrust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28962" y="3124200"/>
            <a:ext cx="5934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3C5FD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End-to-End Third-Party Risk Assessment Pipeline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806130"/>
            <a:ext cx="8096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AI-driven vendor onboarding — risk scoring, fraud detection, parallel compliance checks, and multi-tier approvals — all orchestrated with UiPath Maestro BPMN.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231606" y="1840259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3C5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UIPATH HACKATHON 2026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6475" y="4817566"/>
            <a:ext cx="13716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62375" y="4817566"/>
            <a:ext cx="10763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3000" y="4817566"/>
            <a:ext cx="20097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77075" y="4817566"/>
            <a:ext cx="12954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5" y="4817566"/>
            <a:ext cx="1428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19350" y="4898528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05250" y="4898528"/>
            <a:ext cx="1524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95875" y="4898528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19950" y="4898528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29650" y="4898528"/>
            <a:ext cx="1524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0779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5560665"/>
            <a:ext cx="5286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5409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19125" y="223197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Manual processes are introducing severe risk and holding back business growth.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1617315"/>
            <a:ext cx="37147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" y="301868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5" y="395004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" y="488141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3425" y="311393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1104900" y="3018680"/>
            <a:ext cx="1866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⏱️ 2–4 Weeks Per Vendor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104900" y="3218705"/>
            <a:ext cx="4800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processes relying on manual review, email chains, and isolated siloed approvals.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4375" y="404529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104900" y="3950047"/>
            <a:ext cx="2419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⚠️ 60% of Compliance Breaches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104900" y="4150072"/>
            <a:ext cx="4800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majority of serious security compliance incidents can be traced to inadequate third-party vetting.</a:t>
            </a:r>
            <a:endParaRPr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4375" y="497666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1104900" y="4881413"/>
            <a:ext cx="2276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💸 $4.4M Average Breach Cost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104900" y="5081438"/>
            <a:ext cx="4800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Third-party breaches require complex regulatory containment, escalating associated costs.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066800" y="476250"/>
            <a:ext cx="11031378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Vendor Onboarding is Broken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296715"/>
            <a:ext cx="352425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296715"/>
            <a:ext cx="352425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8625" y="2296715"/>
            <a:ext cx="352425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" y="3965227"/>
            <a:ext cx="352425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3965227"/>
            <a:ext cx="352425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8625" y="3965227"/>
            <a:ext cx="352425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5" y="5409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2362200" y="2306240"/>
            <a:ext cx="38100" cy="145896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133475" y="2534840"/>
            <a:ext cx="291036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rPr>
              <a:t>10× Faster Onboarding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57250" y="2896790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6-phase pipeline to quickly assess, approve, or flag any third-party vendor in mere hours rather than weeks.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6076950" y="2306240"/>
            <a:ext cx="38100" cy="145896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4876800" y="2534840"/>
            <a:ext cx="28803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Risk Intelligence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572000" y="2896790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Multi-model AI framework scoring real-time international sanctions, credit data, forgery, and overall financial health.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9791700" y="2306240"/>
            <a:ext cx="38100" cy="145896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591550" y="2534840"/>
            <a:ext cx="28803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Orchestration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286750" y="2896790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Maestro BPMN orchestrates every stage, seamlessly driving flow from initial web intake to direct ERP system creation.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2362200" y="3974752"/>
            <a:ext cx="38100" cy="145896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219200" y="4203352"/>
            <a:ext cx="282035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 Human-in-Loop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857250" y="4565302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 Center engages specialized compliance experts only when confidence is low, optimizing labor costs.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6076950" y="3974752"/>
            <a:ext cx="38100" cy="145896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4829175" y="4203352"/>
            <a:ext cx="293036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 AI Extraction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4572000" y="4565302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Highly accurate extraction and verification of vendor compliance documentation at 95%+ precision rate.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9791700" y="3974752"/>
            <a:ext cx="38100" cy="145896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8591550" y="4203352"/>
            <a:ext cx="28803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ERP &amp; Continuous Monitor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8286750" y="4565302"/>
            <a:ext cx="3048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Approved vendors are automatically synchronized with central ERP records alongside continuous hazard alerts.</a:t>
            </a:r>
            <a:endParaRPr/>
          </a:p>
        </p:txBody>
      </p:sp>
      <p:pic>
        <p:nvPicPr>
          <p:cNvPr descr="image.png" id="154" name="Google Shape;15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255389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2000" y="255389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86750" y="255389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7250" y="422240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72000" y="4222402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86750" y="422240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1066800" y="476250"/>
            <a:ext cx="11031378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VendorTrust AI — Risk Intelligence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2531" y="29003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4668" y="29003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6806" y="29003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8943" y="29003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081" y="29003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13218" y="29003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" y="54099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9125" y="4439542"/>
            <a:ext cx="109537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1166812" y="3460402"/>
            <a:ext cx="9858375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866775" y="4649092"/>
            <a:ext cx="537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UiPath Maestro BPMN engine coordinates and drives the complete end-to-end flow.</a:t>
            </a:r>
            <a:endParaRPr/>
          </a:p>
        </p:txBody>
      </p:sp>
      <p:pic>
        <p:nvPicPr>
          <p:cNvPr descr="image.png" id="177" name="Google Shape;17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67850" y="4591942"/>
            <a:ext cx="18573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578048" y="3519487"/>
            <a:ext cx="17252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📥 Intake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19125" y="3738562"/>
            <a:ext cx="1643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Vendor submits via web form; triggers automation instances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2440185" y="3519487"/>
            <a:ext cx="17252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📄 Document AI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2481262" y="3738562"/>
            <a:ext cx="1643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IxP extracts &amp; validates submitted credentials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302323" y="3519487"/>
            <a:ext cx="17252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🔀 Checks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343400" y="3738562"/>
            <a:ext cx="1643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Simultaneous credit, AML, and sanctions queries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164460" y="3519487"/>
            <a:ext cx="17252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🧠 AI Analysis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6205537" y="3738562"/>
            <a:ext cx="1643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Aggregates scores and builds risk reports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026598" y="3519487"/>
            <a:ext cx="17252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✅ Decider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067675" y="3738562"/>
            <a:ext cx="1643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Rules engine routes to Auto-Approve or Action Center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9888735" y="3519487"/>
            <a:ext cx="17252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🏭 ERP Integration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9929812" y="3738562"/>
            <a:ext cx="164306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 vendor profile creation &amp; monitoring</a:t>
            </a:r>
            <a:endParaRPr/>
          </a:p>
        </p:txBody>
      </p:sp>
      <p:pic>
        <p:nvPicPr>
          <p:cNvPr descr="image.png" id="190" name="Google Shape;19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66775" y="467766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10725" y="4672905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1143000" y="476250"/>
            <a:ext cx="10951368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6-Phase Orchestration Pipeline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167086"/>
            <a:ext cx="5334000" cy="340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67086"/>
            <a:ext cx="5334000" cy="340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5409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/>
          <p:nvPr/>
        </p:nvSpPr>
        <p:spPr>
          <a:xfrm>
            <a:off x="3267075" y="2176613"/>
            <a:ext cx="38100" cy="3386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1047750" y="2367111"/>
            <a:ext cx="494061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 AI Layer</a:t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819150" y="2662386"/>
            <a:ext cx="4933950" cy="190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1085850" y="4022377"/>
            <a:ext cx="49006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 Scoring Engine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819150" y="4317652"/>
            <a:ext cx="4933950" cy="190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8886825" y="2176613"/>
            <a:ext cx="38100" cy="3386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6686550" y="2367111"/>
            <a:ext cx="49206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B2777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Fraud Detection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6438900" y="2662386"/>
            <a:ext cx="4933950" cy="1905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6724650" y="4022377"/>
            <a:ext cx="488061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B2777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Risk Summary Generation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6438900" y="4317652"/>
            <a:ext cx="4933950" cy="1905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390923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1104900" y="2910036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document classification (Tax, Registry, Certification)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104900" y="3210966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Field extraction (Tax ID, registration date, legal entities)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104900" y="3511897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Underlying document completeness &amp; authenticity verification</a:t>
            </a:r>
            <a:endParaRPr/>
          </a:p>
        </p:txBody>
      </p:sp>
      <p:pic>
        <p:nvPicPr>
          <p:cNvPr descr="image.png" id="216" name="Google Shape;21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04619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1104900" y="4565302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database match against Sanctions &amp; PEP registries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1104900" y="4866233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credit API score pulling (0 - 100 risk score matrix)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1104900" y="5167163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Flexible and adjustable threshold parameters</a:t>
            </a:r>
            <a:endParaRPr/>
          </a:p>
        </p:txBody>
      </p:sp>
      <p:pic>
        <p:nvPicPr>
          <p:cNvPr descr="image.png" id="220" name="Google Shape;22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8900" y="2390923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/>
        </p:nvSpPr>
        <p:spPr>
          <a:xfrm>
            <a:off x="6724650" y="2910036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 document forgery pattern monitoring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724650" y="3210966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Detecting hidden shell company and holding hierarchies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724650" y="3511897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cross-comparison of regional address inconsistencies</a:t>
            </a:r>
            <a:endParaRPr/>
          </a:p>
        </p:txBody>
      </p:sp>
      <p:pic>
        <p:nvPicPr>
          <p:cNvPr descr="image.png" id="224" name="Google Shape;22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8900" y="4046190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7"/>
          <p:cNvSpPr txBox="1"/>
          <p:nvPr/>
        </p:nvSpPr>
        <p:spPr>
          <a:xfrm>
            <a:off x="6724650" y="4565302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natural language summaries generated via LLM Gateway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6724650" y="4866233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Actionable decision rationale with verifiable evidence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6724650" y="5167163"/>
            <a:ext cx="46482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Audit-ready documentation stored automatically in compliance database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066800" y="476250"/>
            <a:ext cx="11031378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Powered by Multi-Model AI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292908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32300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353094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458435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48852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150" y="518621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8900" y="292908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8900" y="32300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8900" y="353094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8900" y="458435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8900" y="48852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8900" y="518621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250727"/>
            <a:ext cx="109537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540990"/>
            <a:ext cx="3429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p18"/>
          <p:cNvGraphicFramePr/>
          <p:nvPr/>
        </p:nvGraphicFramePr>
        <p:xfrm>
          <a:off x="628650" y="22602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{77E6F447-2CAE-44B0-8FEE-3866EFA3295B}</a:tableStyleId>
              </a:tblPr>
              <a:tblGrid>
                <a:gridCol w="2733675"/>
                <a:gridCol w="8201025"/>
              </a:tblGrid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Components &amp; Applied Technologies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Orchestration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UiPath Maestro BPMN (ProcessOrchestration) · Over 70 modeling elements · 6 core logical phases · Dual parallel gateways with conditional paths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AI &amp; Automation</a:t>
                      </a:r>
                      <a:endParaRPr/>
                    </a:p>
                  </a:txBody>
                  <a:tcPr marT="25400" marB="25400" marR="63500" marL="27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UiPath Document Understanding (IxP engine) · Global LLM Gateway integration · AI Center secure custom risk ranking agents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Human-in-the-Loop</a:t>
                      </a:r>
                      <a:endParaRPr/>
                    </a:p>
                  </a:txBody>
                  <a:tcPr marT="25400" marB="25400" marR="63500" marL="29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UiPath Action Center portal · Custom 3-tier escalations (Officer -&gt; Manager -&gt; Legal) mapped dynamically against aggregate scores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Integrations &amp; APIs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Sanctions API verification · Credit Bureau data pulling · AML/KYC background tools · Direct SAP/ERP Master Data API · Enterprise notification engines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18"/>
          <p:cNvSpPr/>
          <p:nvPr/>
        </p:nvSpPr>
        <p:spPr>
          <a:xfrm>
            <a:off x="628650" y="2755552"/>
            <a:ext cx="27336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3362325" y="2755552"/>
            <a:ext cx="82010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628650" y="3446115"/>
            <a:ext cx="27336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3362325" y="3446115"/>
            <a:ext cx="82010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628650" y="4122390"/>
            <a:ext cx="27336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3362325" y="4122390"/>
            <a:ext cx="82010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628650" y="4798665"/>
            <a:ext cx="27336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3362325" y="4798665"/>
            <a:ext cx="82010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731865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408140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05559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508441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05559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731865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408140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508441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 txBox="1"/>
          <p:nvPr/>
        </p:nvSpPr>
        <p:spPr>
          <a:xfrm>
            <a:off x="1104900" y="476250"/>
            <a:ext cx="10991373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 on the UiPath Agentic Platform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898302"/>
            <a:ext cx="538162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898302"/>
            <a:ext cx="538162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3965227"/>
            <a:ext cx="538162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965227"/>
            <a:ext cx="538162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" y="54099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/>
          <p:nvPr/>
        </p:nvSpPr>
        <p:spPr>
          <a:xfrm>
            <a:off x="3290887" y="1907827"/>
            <a:ext cx="38100" cy="1857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1066800" y="2098327"/>
            <a:ext cx="497062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Parallel Risk Gateway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819150" y="2507902"/>
            <a:ext cx="49815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Splits into four parallel microservice queries simultaneously, recombining via a strict "And Join" to wait for all risk factor feedback before finalizing overall calculations.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8863012" y="1907827"/>
            <a:ext cx="38100" cy="1857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6657975" y="2098327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Risk-Based Routing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6391275" y="2507902"/>
            <a:ext cx="49815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Dynamically routes processes to specific Action Center task cues: scores &lt;30 auto-approve, scores 30-70 escalate to manual triage review, scores &gt;70 trigger Legal.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3290887" y="3974752"/>
            <a:ext cx="38100" cy="1857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1085850" y="4165252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SLA-Aware Timers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819150" y="4574827"/>
            <a:ext cx="49815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Boundary task timers monitor Action Center processing. Triggers system-wide warning signals or auto-escalates vendor review assignments upon exceeding default thresholds.</a:t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8863012" y="3974752"/>
            <a:ext cx="38100" cy="18573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6657975" y="4165252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Resubmission Loops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6391275" y="4574827"/>
            <a:ext cx="49815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document validation reports gaps, a targeted feedback branch alerts vendor point of contact to upload correcting documents (restricted to a maximum of 3 loops).</a:t>
            </a:r>
            <a:endParaRPr/>
          </a:p>
        </p:txBody>
      </p:sp>
      <p:pic>
        <p:nvPicPr>
          <p:cNvPr descr="image.png" id="290" name="Google Shape;29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212214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3317527"/>
            <a:ext cx="9048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00225" y="3317527"/>
            <a:ext cx="8667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91275" y="212214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91275" y="3317527"/>
            <a:ext cx="1019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86650" y="3317527"/>
            <a:ext cx="10858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19150" y="418906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150" y="5384452"/>
            <a:ext cx="10668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962150" y="5384452"/>
            <a:ext cx="8953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391275" y="418906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91275" y="5384452"/>
            <a:ext cx="1009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477125" y="5384452"/>
            <a:ext cx="11144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1104900" y="476250"/>
            <a:ext cx="10991373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BPMN Deep Dive — Key Patterns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4832002"/>
            <a:ext cx="40005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5375" y="2831752"/>
            <a:ext cx="66675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5375" y="3323183"/>
            <a:ext cx="66675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5375" y="3814613"/>
            <a:ext cx="66675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05375" y="4306044"/>
            <a:ext cx="66675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5" y="54099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 txBox="1"/>
          <p:nvPr/>
        </p:nvSpPr>
        <p:spPr>
          <a:xfrm>
            <a:off x="619125" y="2507902"/>
            <a:ext cx="4200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PAYLOAD SCHEMA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4905375" y="2507902"/>
            <a:ext cx="7000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EXECUTION WALKTHROUGH</a:t>
            </a:r>
            <a:endParaRPr/>
          </a:p>
        </p:txBody>
      </p:sp>
      <p:pic>
        <p:nvPicPr>
          <p:cNvPr descr="image.png" id="317" name="Google Shape;31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950" y="4974877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0"/>
          <p:cNvSpPr txBox="1"/>
          <p:nvPr/>
        </p:nvSpPr>
        <p:spPr>
          <a:xfrm>
            <a:off x="5086350" y="2944117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5600700" y="2927002"/>
            <a:ext cx="532447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Registration Submission: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Forms intake instantly fires the Maestro BPMN engine instance.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5086350" y="3435548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5619750" y="3418433"/>
            <a:ext cx="5210175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AI Verification: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Auto-extracts registration data, verifying certificate validity.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5086350" y="3926978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5629275" y="3909863"/>
            <a:ext cx="539115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 Sanctions Check:</a:t>
            </a:r>
            <a:r>
              <a:rPr b="0" i="0" lang="en-US" sz="101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4 simultaneous external queries pass with no warnings flagged.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5086350" y="4418409"/>
            <a:ext cx="466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SCORE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5667375" y="4401294"/>
            <a:ext cx="571500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 / 100 Auto-Approval:</a:t>
            </a:r>
            <a:r>
              <a:rPr b="0" i="0" lang="en-US" sz="1012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Confirms low risk profile; writes immediately to active SAP master file.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104900" y="476250"/>
            <a:ext cx="10991373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 Run — TechSupply Solutions Ltd</a:t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445990"/>
            <a:ext cx="3964781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5409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1"/>
          <p:cNvSpPr txBox="1"/>
          <p:nvPr/>
        </p:nvSpPr>
        <p:spPr>
          <a:xfrm>
            <a:off x="1000125" y="2826990"/>
            <a:ext cx="320278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10×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1000125" y="3608040"/>
            <a:ext cx="32027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FASTER ONBOARDING</a:t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1000125" y="4065240"/>
            <a:ext cx="3202781" cy="952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1000125" y="4312890"/>
            <a:ext cx="320278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$2.1 Million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1000125" y="4741515"/>
            <a:ext cx="32027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Estimated savings per 500 vendors</a:t>
            </a:r>
            <a:endParaRPr/>
          </a:p>
        </p:txBody>
      </p:sp>
      <p:pic>
        <p:nvPicPr>
          <p:cNvPr descr="image.png" id="340" name="Google Shape;3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4906" y="263009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4906" y="353288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4906" y="443567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8731" y="274439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1"/>
          <p:cNvSpPr txBox="1"/>
          <p:nvPr/>
        </p:nvSpPr>
        <p:spPr>
          <a:xfrm>
            <a:off x="5574506" y="2630090"/>
            <a:ext cx="2543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Exceptional Operational Velocity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5574506" y="2877740"/>
            <a:ext cx="5998368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Shrinks traditional process time from weeks down to hours. Automated parallel paths remove scheduling queue bottlenecks.</a:t>
            </a:r>
            <a:endParaRPr/>
          </a:p>
        </p:txBody>
      </p:sp>
      <p:pic>
        <p:nvPicPr>
          <p:cNvPr descr="image.png" id="346" name="Google Shape;34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79206" y="364718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1"/>
          <p:cNvSpPr txBox="1"/>
          <p:nvPr/>
        </p:nvSpPr>
        <p:spPr>
          <a:xfrm>
            <a:off x="5574506" y="3532882"/>
            <a:ext cx="24098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Proactive Compliance Defense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5574506" y="3780532"/>
            <a:ext cx="5998368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Ensures full background check completion on 100% of registrations. Automatically logs immutable audit logs for regulators.</a:t>
            </a:r>
            <a:endParaRPr/>
          </a:p>
        </p:txBody>
      </p:sp>
      <p:pic>
        <p:nvPicPr>
          <p:cNvPr descr="image.png" id="349" name="Google Shape;349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88731" y="454997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1"/>
          <p:cNvSpPr txBox="1"/>
          <p:nvPr/>
        </p:nvSpPr>
        <p:spPr>
          <a:xfrm>
            <a:off x="5574506" y="4435673"/>
            <a:ext cx="1943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Limitless Process Scaling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5574506" y="4683323"/>
            <a:ext cx="5998368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Enables easy scaling to accommodate hundreds of onboarding submissions monthly at zero incremental licensing or resource expense.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1066800" y="476250"/>
            <a:ext cx="11031378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Measurable Business Impact</a:t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475607"/>
            <a:ext cx="4444900" cy="1499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4165252"/>
            <a:ext cx="4444900" cy="1098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" y="54099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"/>
          <p:cNvSpPr txBox="1"/>
          <p:nvPr/>
        </p:nvSpPr>
        <p:spPr>
          <a:xfrm>
            <a:off x="5616475" y="2650628"/>
            <a:ext cx="625421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DEVELOPMENT MILESTONES</a:t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2822525" y="2485130"/>
            <a:ext cx="38100" cy="14800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800100" y="2656582"/>
            <a:ext cx="428709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Deliverables Built</a:t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2822525" y="4174777"/>
            <a:ext cx="38100" cy="1079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800100" y="4346227"/>
            <a:ext cx="428709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Hurdles Overcome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800100" y="4736752"/>
            <a:ext cx="408295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Mastered Maestro's parallel join synchronization constraints and structured responsive, multi-tier Action Center routes dynamically.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5616475" y="3022103"/>
            <a:ext cx="4286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0h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5616475" y="3574553"/>
            <a:ext cx="4286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6h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5616475" y="4127003"/>
            <a:ext cx="4286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18h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5616475" y="4679453"/>
            <a:ext cx="4286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48h</a:t>
            </a:r>
            <a:endParaRPr/>
          </a:p>
        </p:txBody>
      </p:sp>
      <p:pic>
        <p:nvPicPr>
          <p:cNvPr descr="image.png" id="372" name="Google Shape;37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267563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1085850" y="3047107"/>
            <a:ext cx="37972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 70+ element BPMN model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1085850" y="3321397"/>
            <a:ext cx="37972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6-phase validation pipeline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1085850" y="3595687"/>
            <a:ext cx="37972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AI OCR parsing layer</a:t>
            </a:r>
            <a:endParaRPr/>
          </a:p>
        </p:txBody>
      </p:sp>
      <p:pic>
        <p:nvPicPr>
          <p:cNvPr descr="image.png" id="376" name="Google Shape;37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" y="436527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2"/>
          <p:cNvSpPr txBox="1"/>
          <p:nvPr/>
        </p:nvSpPr>
        <p:spPr>
          <a:xfrm>
            <a:off x="6187975" y="3041153"/>
            <a:ext cx="2362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Ideation &amp; System Archetype Design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6187975" y="3241178"/>
            <a:ext cx="4410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Mapped risk scoring algorithms and structured overall orchestration logic steps.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6187975" y="3593603"/>
            <a:ext cx="258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Maestro Process Architecture modeling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6187975" y="3793628"/>
            <a:ext cx="4124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Established baseline logical pathways, parallel flows, and routing variables.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6187975" y="4146053"/>
            <a:ext cx="14001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Engine Integrations</a:t>
            </a:r>
            <a:endParaRPr/>
          </a:p>
        </p:txBody>
      </p:sp>
      <p:sp>
        <p:nvSpPr>
          <p:cNvPr id="382" name="Google Shape;382;p22"/>
          <p:cNvSpPr txBox="1"/>
          <p:nvPr/>
        </p:nvSpPr>
        <p:spPr>
          <a:xfrm>
            <a:off x="6187975" y="4346078"/>
            <a:ext cx="415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Constructed custom Document AI extraction rules and LLM validation calls.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6187975" y="4698503"/>
            <a:ext cx="2600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 &amp; Live Submission Ready ✅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6187975" y="4898528"/>
            <a:ext cx="398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Conducted end-to-end trace debugging runs on physical server nodes.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1104900" y="476250"/>
            <a:ext cx="10991373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 in 48 Hours</a:t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7" name="Google Shape;3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306615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334044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36147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4" name="Google Shape;3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641252"/>
            <a:ext cx="35242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41252"/>
            <a:ext cx="35242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8625" y="2641252"/>
            <a:ext cx="35242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07952"/>
            <a:ext cx="1381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2907952"/>
            <a:ext cx="1466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6750" y="2907952"/>
            <a:ext cx="15144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" y="54099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3"/>
          <p:cNvSpPr/>
          <p:nvPr/>
        </p:nvSpPr>
        <p:spPr>
          <a:xfrm>
            <a:off x="2362200" y="2665065"/>
            <a:ext cx="38100" cy="2409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857250" y="3288952"/>
            <a:ext cx="3200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6-Phase Pipeline</a:t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6076950" y="2665065"/>
            <a:ext cx="38100" cy="2409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4572000" y="3288952"/>
            <a:ext cx="3200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Continuous Monitoring</a:t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9791700" y="2665065"/>
            <a:ext cx="38100" cy="24098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8286750" y="3288952"/>
            <a:ext cx="3200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Modeling</a:t>
            </a: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857250" y="37175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Onboarding flow baseline</a:t>
            </a:r>
            <a:endParaRPr/>
          </a:p>
        </p:txBody>
      </p:sp>
      <p:sp>
        <p:nvSpPr>
          <p:cNvPr id="409" name="Google Shape;409;p23"/>
          <p:cNvSpPr txBox="1"/>
          <p:nvPr/>
        </p:nvSpPr>
        <p:spPr>
          <a:xfrm>
            <a:off x="857250" y="40223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risk analysis &amp; scoring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857250" y="43271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 Center escalation routing</a:t>
            </a:r>
            <a:endParaRPr/>
          </a:p>
        </p:txBody>
      </p:sp>
      <p:sp>
        <p:nvSpPr>
          <p:cNvPr id="411" name="Google Shape;411;p23"/>
          <p:cNvSpPr txBox="1"/>
          <p:nvPr/>
        </p:nvSpPr>
        <p:spPr>
          <a:xfrm>
            <a:off x="857250" y="46319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ERP profile creation</a:t>
            </a:r>
            <a:endParaRPr/>
          </a:p>
        </p:txBody>
      </p:sp>
      <p:sp>
        <p:nvSpPr>
          <p:cNvPr id="412" name="Google Shape;412;p23"/>
          <p:cNvSpPr txBox="1"/>
          <p:nvPr/>
        </p:nvSpPr>
        <p:spPr>
          <a:xfrm>
            <a:off x="4572000" y="37175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global sanctions streaming</a:t>
            </a:r>
            <a:endParaRPr/>
          </a:p>
        </p:txBody>
      </p:sp>
      <p:sp>
        <p:nvSpPr>
          <p:cNvPr id="413" name="Google Shape;413;p23"/>
          <p:cNvSpPr txBox="1"/>
          <p:nvPr/>
        </p:nvSpPr>
        <p:spPr>
          <a:xfrm>
            <a:off x="4572000" y="40223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Environmental &amp; ESG tracking</a:t>
            </a:r>
            <a:endParaRPr/>
          </a:p>
        </p:txBody>
      </p:sp>
      <p:sp>
        <p:nvSpPr>
          <p:cNvPr id="414" name="Google Shape;414;p23"/>
          <p:cNvSpPr txBox="1"/>
          <p:nvPr/>
        </p:nvSpPr>
        <p:spPr>
          <a:xfrm>
            <a:off x="4572000" y="43271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partner dashboards</a:t>
            </a:r>
            <a:endParaRPr/>
          </a:p>
        </p:txBody>
      </p:sp>
      <p:sp>
        <p:nvSpPr>
          <p:cNvPr id="415" name="Google Shape;415;p23"/>
          <p:cNvSpPr txBox="1"/>
          <p:nvPr/>
        </p:nvSpPr>
        <p:spPr>
          <a:xfrm>
            <a:off x="4572000" y="46319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vendor portal front-end</a:t>
            </a:r>
            <a:endParaRPr/>
          </a:p>
        </p:txBody>
      </p:sp>
      <p:sp>
        <p:nvSpPr>
          <p:cNvPr id="416" name="Google Shape;416;p23"/>
          <p:cNvSpPr txBox="1"/>
          <p:nvPr/>
        </p:nvSpPr>
        <p:spPr>
          <a:xfrm>
            <a:off x="8286750" y="37175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vendor bankruptcy warning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8286750" y="40223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contract risk evaluation</a:t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8286750" y="43271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Tailored industry metric sets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8286750" y="4631977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Marketplace deployment options</a:t>
            </a:r>
            <a:endParaRPr/>
          </a:p>
        </p:txBody>
      </p:sp>
      <p:pic>
        <p:nvPicPr>
          <p:cNvPr descr="image.png" id="420" name="Google Shape;420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376520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407000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437480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467960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0" y="37652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0" y="40700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0" y="43748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0" y="46796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86750" y="37652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86750" y="40700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86750" y="43748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86750" y="4679602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3"/>
          <p:cNvSpPr txBox="1"/>
          <p:nvPr/>
        </p:nvSpPr>
        <p:spPr>
          <a:xfrm>
            <a:off x="1104900" y="476250"/>
            <a:ext cx="10991373" cy="45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 to Production</a:t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619125" y="1053405"/>
            <a:ext cx="10953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8" name="Google Shape;4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4257526"/>
            <a:ext cx="7620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4"/>
          <p:cNvSpPr txBox="1"/>
          <p:nvPr/>
        </p:nvSpPr>
        <p:spPr>
          <a:xfrm>
            <a:off x="4645818" y="1705123"/>
            <a:ext cx="290036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441" name="Google Shape;441;p24"/>
          <p:cNvSpPr txBox="1"/>
          <p:nvPr/>
        </p:nvSpPr>
        <p:spPr>
          <a:xfrm>
            <a:off x="2319337" y="2505223"/>
            <a:ext cx="75533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3C5FD"/>
                </a:solidFill>
                <a:latin typeface="Space Grotesk"/>
                <a:ea typeface="Space Grotesk"/>
                <a:cs typeface="Space Grotesk"/>
                <a:sym typeface="Space Grotesk"/>
              </a:rPr>
              <a:t>Making third-party risk management intelligent, automated, and auditable.</a:t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5715000" y="3078509"/>
            <a:ext cx="762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3238500" y="3449984"/>
            <a:ext cx="57150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by </a:t>
            </a: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Prajyot Birajdar</a:t>
            </a: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— UiPath Hackathon 2026. Built with Maestro ProcessOrchestration BPMN utilizing 70+ logical steps and robust parallel assessment.</a:t>
            </a:r>
            <a:endParaRPr/>
          </a:p>
        </p:txBody>
      </p:sp>
      <p:sp>
        <p:nvSpPr>
          <p:cNvPr id="444" name="Google Shape;444;p24"/>
          <p:cNvSpPr txBox="1"/>
          <p:nvPr/>
        </p:nvSpPr>
        <p:spPr>
          <a:xfrm>
            <a:off x="2486025" y="4457551"/>
            <a:ext cx="23970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 ID</a:t>
            </a:r>
            <a:endParaRPr/>
          </a:p>
        </p:txBody>
      </p:sp>
      <p:sp>
        <p:nvSpPr>
          <p:cNvPr id="445" name="Google Shape;445;p24"/>
          <p:cNvSpPr txBox="1"/>
          <p:nvPr/>
        </p:nvSpPr>
        <p:spPr>
          <a:xfrm>
            <a:off x="2581275" y="4648051"/>
            <a:ext cx="2206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3f635e25-6924...</a:t>
            </a:r>
            <a:endParaRPr/>
          </a:p>
        </p:txBody>
      </p:sp>
      <p:sp>
        <p:nvSpPr>
          <p:cNvPr id="446" name="Google Shape;446;p24"/>
          <p:cNvSpPr txBox="1"/>
          <p:nvPr/>
        </p:nvSpPr>
        <p:spPr>
          <a:xfrm>
            <a:off x="4892575" y="4457551"/>
            <a:ext cx="23971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CONTACT INFO</a:t>
            </a:r>
            <a:endParaRPr/>
          </a:p>
        </p:txBody>
      </p:sp>
      <p:sp>
        <p:nvSpPr>
          <p:cNvPr id="447" name="Google Shape;447;p24"/>
          <p:cNvSpPr txBox="1"/>
          <p:nvPr/>
        </p:nvSpPr>
        <p:spPr>
          <a:xfrm>
            <a:off x="4892575" y="4648051"/>
            <a:ext cx="239717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prajyotbirajadar1998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@gmail.com</a:t>
            </a:r>
            <a:endParaRPr/>
          </a:p>
        </p:txBody>
      </p:sp>
      <p:sp>
        <p:nvSpPr>
          <p:cNvPr id="448" name="Google Shape;448;p24"/>
          <p:cNvSpPr txBox="1"/>
          <p:nvPr/>
        </p:nvSpPr>
        <p:spPr>
          <a:xfrm>
            <a:off x="7299275" y="4457551"/>
            <a:ext cx="24066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CATEGORY</a:t>
            </a:r>
            <a:endParaRPr/>
          </a:p>
        </p:txBody>
      </p:sp>
      <p:sp>
        <p:nvSpPr>
          <p:cNvPr id="449" name="Google Shape;449;p24"/>
          <p:cNvSpPr txBox="1"/>
          <p:nvPr/>
        </p:nvSpPr>
        <p:spPr>
          <a:xfrm>
            <a:off x="7299275" y="4648051"/>
            <a:ext cx="240669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 Orchestration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